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7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89" autoAdjust="0"/>
    <p:restoredTop sz="94660"/>
  </p:normalViewPr>
  <p:slideViewPr>
    <p:cSldViewPr snapToGrid="0">
      <p:cViewPr varScale="1">
        <p:scale>
          <a:sx n="67" d="100"/>
          <a:sy n="67" d="100"/>
        </p:scale>
        <p:origin x="6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A6EE-B45F-4580-9C61-90BC8B6E2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692" y="447675"/>
            <a:ext cx="7766936" cy="1685925"/>
          </a:xfrm>
        </p:spPr>
        <p:txBody>
          <a:bodyPr/>
          <a:lstStyle/>
          <a:p>
            <a:pPr algn="ctr"/>
            <a:r>
              <a:rPr lang="en-IN" sz="4000" dirty="0"/>
              <a:t>E-COMMERCE TESTING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50229-2618-40CC-BF21-018C63FDE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617" y="3288833"/>
            <a:ext cx="7766936" cy="180704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>
                <a:solidFill>
                  <a:schemeClr val="tx1"/>
                </a:solidFill>
              </a:rPr>
              <a:t>Manual Testing | Automation Testing | API Testing | CI/CD | AI Testing</a:t>
            </a:r>
          </a:p>
          <a:p>
            <a:pPr algn="l"/>
            <a:r>
              <a:rPr lang="en-IN" b="1" dirty="0">
                <a:solidFill>
                  <a:schemeClr val="tx1"/>
                </a:solidFill>
              </a:rPr>
              <a:t>Application: Automation Exercise</a:t>
            </a:r>
          </a:p>
          <a:p>
            <a:pPr algn="l"/>
            <a:r>
              <a:rPr lang="en-IN" b="1" dirty="0">
                <a:solidFill>
                  <a:schemeClr val="tx1"/>
                </a:solidFill>
              </a:rPr>
              <a:t>Presented By: </a:t>
            </a:r>
            <a:r>
              <a:rPr lang="en-IN" b="1" dirty="0" err="1">
                <a:solidFill>
                  <a:schemeClr val="tx1"/>
                </a:solidFill>
              </a:rPr>
              <a:t>Dipali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Pawar</a:t>
            </a:r>
            <a:endParaRPr lang="en-IN" b="1" dirty="0">
              <a:solidFill>
                <a:schemeClr val="tx1"/>
              </a:solidFill>
            </a:endParaRPr>
          </a:p>
          <a:p>
            <a:pPr algn="l"/>
            <a:r>
              <a:rPr lang="en-IN" sz="1900" b="1" dirty="0">
                <a:solidFill>
                  <a:schemeClr val="accent2"/>
                </a:solidFill>
              </a:rPr>
              <a:t>Technologies &amp; Tools: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Java | Selenium | TestNG | Maven | Postman | Rest Assured | Jenkins | Jira | </a:t>
            </a:r>
            <a:r>
              <a:rPr lang="en-IN" dirty="0" err="1">
                <a:solidFill>
                  <a:schemeClr val="tx1"/>
                </a:solidFill>
              </a:rPr>
              <a:t>Testim</a:t>
            </a:r>
            <a:endParaRPr lang="en-IN" b="1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30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4D57-5E58-4750-A1B4-C7701E70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908CB1-6488-48DF-A0EF-AF626F854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392815"/>
            <a:ext cx="27238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CI/CD with Jenkins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Results &amp;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01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315D-A0F8-478A-A8E3-A1021462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160699-CA4F-42D5-9B73-30C7BBD53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Application Name: Automation Exercise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Application Type: E-Commerce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Purpose: To test major e-commerce functionalities from user registration to order placement.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Main Modules: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Confirmation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Testing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 Automation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65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DCB9-FF9C-49A1-A270-CCE82E12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6750"/>
          </a:xfrm>
        </p:spPr>
        <p:txBody>
          <a:bodyPr/>
          <a:lstStyle/>
          <a:p>
            <a:r>
              <a:rPr lang="en-IN" dirty="0"/>
              <a:t>APPLICATION HOMEPAGE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BD3684-8059-4079-A06D-B9F18221A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463" y="1276350"/>
            <a:ext cx="6746487" cy="378980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5B0CF7-937E-4EAC-A98E-CC62DEF7237C}"/>
              </a:ext>
            </a:extLst>
          </p:cNvPr>
          <p:cNvSpPr/>
          <p:nvPr/>
        </p:nvSpPr>
        <p:spPr>
          <a:xfrm>
            <a:off x="854463" y="5271238"/>
            <a:ext cx="96611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Automation Exercise – E-Commerce Application Homepage • User-friendly e-commerce interface • Product browsing, cart and checkout • Application under test</a:t>
            </a:r>
          </a:p>
        </p:txBody>
      </p:sp>
    </p:spTree>
    <p:extLst>
      <p:ext uri="{BB962C8B-B14F-4D97-AF65-F5344CB8AC3E}">
        <p14:creationId xmlns:p14="http://schemas.microsoft.com/office/powerpoint/2010/main" val="2756924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FDA5-B8A9-4F49-8217-175F2336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7F2BF6-D441-4E7A-BC6C-0F9E2070D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771547"/>
            <a:ext cx="94011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validate the functionality of the e-commerce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 identify defects and verify application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 perform functional and UI testing of major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 automate important test scenarios using Selenium and TestNG.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 validate APIs using Postman and Rest Assured.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 use AI-based testing tools for test automation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 generate test reports and maintain testing evidence.</a:t>
            </a:r>
          </a:p>
        </p:txBody>
      </p:sp>
    </p:spTree>
    <p:extLst>
      <p:ext uri="{BB962C8B-B14F-4D97-AF65-F5344CB8AC3E}">
        <p14:creationId xmlns:p14="http://schemas.microsoft.com/office/powerpoint/2010/main" val="287794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A4D9-72C3-4A8E-B683-E4075727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E707BA-91EF-47D6-B17B-EBE6B8850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267318"/>
            <a:ext cx="92286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and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Product Browsing and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Product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Shopping Cart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Checkout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Order Confirmation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Logout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API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Automation Testing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/>
              <a:t>Testing focused on functional, UI, positive, negative and regression scenarios.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0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DB61-CABD-492B-90F5-21CAE849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ENVIRONMENT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E44794-D5D1-4747-8C7E-E00F42524E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830840"/>
            <a:ext cx="774276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System: Windows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Browser: Google Chrome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IDE: Eclipse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Tool: Selenium WebDriver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Framework: TestNG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Tool: Maven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Testing Tools: Postman and Rest Assured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Under Test: Automation Exercise</a:t>
            </a:r>
          </a:p>
        </p:txBody>
      </p:sp>
    </p:spTree>
    <p:extLst>
      <p:ext uri="{BB962C8B-B14F-4D97-AF65-F5344CB8AC3E}">
        <p14:creationId xmlns:p14="http://schemas.microsoft.com/office/powerpoint/2010/main" val="413393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B733-D799-4EE2-B2A2-728CC813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 LIFE CYCLE (STLC)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CD3780-EAD8-4EE6-80CB-5CC8F48DA2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956596"/>
            <a:ext cx="1013354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Analysis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application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Planning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Defining testing scope and approach.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Case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test scenarios and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Environment Setup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Configuring browser and testing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Execution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Executing test cases and recording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 Reporting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tracking identified defects.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Closure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test summary and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</a:pPr>
            <a:r>
              <a:rPr lang="en-US" dirty="0"/>
              <a:t>Requirement Analysis → Test Planning → Test Case Design → Environment Setup → Test Execution → Defect Reporting → Test Closure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32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2AD1-45EA-4AF1-A15F-1BEEEC37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MANUAL TESTING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DAB3BE-EA52-4EAD-B62D-218083E670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21290"/>
            <a:ext cx="937154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test scenarios and test cases for major application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Covered positive and negative test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Verified functional and UI behavior of the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Executed test cases and recorded Actual Results and Expected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Identified and documented failed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Prepared test execution evidence using screenshots.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Performed regression testing for important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1880195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6583-23CB-45C5-872E-63EB835C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MANUAL TEST CASES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8EE156-1572-443B-8911-7E521B060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320270"/>
            <a:ext cx="907961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manual test cases for major e-commerce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Covered Registration, Login, Products, Search, Cart, Checkout and Payment.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Included positive, negative and boundary test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Defined test steps, test data, expected results and actual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Recorded test execution status as Pass, Fail or Pending.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Maintained test evidence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screenshots.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27EC8-0302-48E4-83D5-22A5CF4E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166929"/>
            <a:ext cx="10171641" cy="359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92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7221-F868-48EF-A09E-BA9D90D5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MANUAL TEST EXECUTION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BC0E13-CB82-413E-A00D-0AB1203D3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854" y="1579343"/>
            <a:ext cx="55996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Executed the prepared manual test cases on the Automation Exercise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Verified actual results against expected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Recorded Pass, Fail and Pending statuses.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Captured screenshots as test execution evidence.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Re-tested failed scenarios after making necessary checks.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Maintained the final test execution results for project reporting.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4D57A-A92F-4763-8D0C-D77322C01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15" y="686236"/>
            <a:ext cx="5635182" cy="437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4F21-EDFF-4B52-B8CB-BFF491E7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DEFECT / BUG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C0315-D58D-48A5-8543-9DDAF4238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4680"/>
            <a:ext cx="10083799" cy="3880773"/>
          </a:xfrm>
        </p:spPr>
        <p:txBody>
          <a:bodyPr/>
          <a:lstStyle/>
          <a:p>
            <a:r>
              <a:rPr lang="en-US" sz="1600" dirty="0"/>
              <a:t>Identified defects during manual and automation testing.</a:t>
            </a:r>
          </a:p>
          <a:p>
            <a:r>
              <a:rPr lang="en-US" sz="1600" dirty="0"/>
              <a:t>• Documented defects with clear steps to reproduce.</a:t>
            </a:r>
          </a:p>
          <a:p>
            <a:r>
              <a:rPr lang="en-US" sz="1600" dirty="0"/>
              <a:t>• Recorded Expected Result and Actual Result.</a:t>
            </a:r>
          </a:p>
          <a:p>
            <a:r>
              <a:rPr lang="en-US" sz="1600" dirty="0"/>
              <a:t>• Captured screenshots as defect evidence.</a:t>
            </a:r>
          </a:p>
          <a:p>
            <a:r>
              <a:rPr lang="en-US" sz="1600" dirty="0"/>
              <a:t>• Verified the defects after re-testing.</a:t>
            </a:r>
          </a:p>
          <a:p>
            <a:r>
              <a:rPr lang="en-US" sz="1600" dirty="0"/>
              <a:t>• Maintained defect details for final project reporting.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5B4AC-2260-4AB0-8DBE-6DEDFF03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17728"/>
            <a:ext cx="11243733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2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D7BE-A875-4285-AA40-1D29C2E0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AUTOMATION TESTING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F3293-52D3-4740-BFBE-5D12573D2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4" y="1361613"/>
            <a:ext cx="5477933" cy="38807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Automated web application testing using Selenium WebDriver.</a:t>
            </a:r>
          </a:p>
          <a:p>
            <a:r>
              <a:rPr lang="en-US" dirty="0"/>
              <a:t>• Developed automation scripts using Java.</a:t>
            </a:r>
          </a:p>
          <a:p>
            <a:r>
              <a:rPr lang="en-US" dirty="0"/>
              <a:t>• Used TestNG for test execution and assertions.</a:t>
            </a:r>
          </a:p>
          <a:p>
            <a:r>
              <a:rPr lang="en-US" dirty="0"/>
              <a:t>• Used Maven for project and dependency management.</a:t>
            </a:r>
          </a:p>
          <a:p>
            <a:r>
              <a:rPr lang="en-US" dirty="0"/>
              <a:t>• Implemented Page Object Model (POM) for better code organization.</a:t>
            </a:r>
          </a:p>
          <a:p>
            <a:r>
              <a:rPr lang="en-US" dirty="0"/>
              <a:t>• Automated important e-commerce scenarios such as Login, Products, Cart, Checkout and Payment.</a:t>
            </a:r>
          </a:p>
          <a:p>
            <a:r>
              <a:rPr lang="en-US" dirty="0"/>
              <a:t>• Generated execution reports and captured screenshots for failed test cases.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2D51A-D976-4A24-B703-11E1AB81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67" y="1270000"/>
            <a:ext cx="5579533" cy="512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24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739F-A207-40B7-8B04-1C1F187A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2F1D-F1F8-4A11-ACCA-7DA423566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5418666" cy="4517362"/>
          </a:xfrm>
        </p:spPr>
        <p:txBody>
          <a:bodyPr>
            <a:normAutofit/>
          </a:bodyPr>
          <a:lstStyle/>
          <a:p>
            <a:r>
              <a:rPr lang="en-IN" dirty="0"/>
              <a:t>Technology: Java + Selenium WebDriver</a:t>
            </a:r>
          </a:p>
          <a:p>
            <a:r>
              <a:rPr lang="en-IN" dirty="0"/>
              <a:t>• Testing Framework: TestNG</a:t>
            </a:r>
          </a:p>
          <a:p>
            <a:r>
              <a:rPr lang="en-IN" dirty="0"/>
              <a:t>• Build Tool: Maven</a:t>
            </a:r>
          </a:p>
          <a:p>
            <a:r>
              <a:rPr lang="en-IN" dirty="0"/>
              <a:t>• Design Pattern: Page Object Model (POM)</a:t>
            </a:r>
          </a:p>
          <a:p>
            <a:r>
              <a:rPr lang="en-IN" dirty="0"/>
              <a:t>• Page Classes: Login, Products, Cart, Checkout and Payment</a:t>
            </a:r>
          </a:p>
          <a:p>
            <a:r>
              <a:rPr lang="en-IN" dirty="0"/>
              <a:t>• Utilities: WebDriver setup, screenshots and reusable methods</a:t>
            </a:r>
          </a:p>
          <a:p>
            <a:r>
              <a:rPr lang="en-IN" dirty="0"/>
              <a:t>• Reporting: Extent Reports and TestNG Reports</a:t>
            </a:r>
          </a:p>
          <a:p>
            <a:r>
              <a:rPr lang="en-IN" dirty="0"/>
              <a:t>• Logging: Log4j</a:t>
            </a:r>
          </a:p>
          <a:p>
            <a:r>
              <a:rPr lang="en-IN" dirty="0"/>
              <a:t>• Test Data and configuration are managed separately for better maintainability.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D590C-46B8-40AA-B37E-175F2929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14" y="727312"/>
            <a:ext cx="5876086" cy="531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50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8991-04D2-4DA6-9D66-00984129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 OBJECT MODEL (POM)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572B-1FDF-4011-A6F6-903CEA498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5656"/>
            <a:ext cx="8596668" cy="3880773"/>
          </a:xfrm>
        </p:spPr>
        <p:txBody>
          <a:bodyPr>
            <a:normAutofit fontScale="85000" lnSpcReduction="10000"/>
          </a:bodyPr>
          <a:lstStyle/>
          <a:p>
            <a:r>
              <a:rPr lang="en-IN" sz="2400" dirty="0"/>
              <a:t>• Implemented Page Object Model to organize automation code.</a:t>
            </a:r>
          </a:p>
          <a:p>
            <a:r>
              <a:rPr lang="en-IN" sz="2400" dirty="0"/>
              <a:t>• Each application page is represented by a separate Java class.</a:t>
            </a:r>
          </a:p>
          <a:p>
            <a:r>
              <a:rPr lang="en-IN" sz="2400" dirty="0"/>
              <a:t>• Locators and page actions are maintained inside page classes.</a:t>
            </a:r>
          </a:p>
          <a:p>
            <a:r>
              <a:rPr lang="en-IN" sz="2400" dirty="0"/>
              <a:t>• Test classes call reusable page methods instead of directly using locators.</a:t>
            </a:r>
          </a:p>
          <a:p>
            <a:r>
              <a:rPr lang="en-IN" sz="2400" dirty="0"/>
              <a:t>• Improves code readability, reusability and maintainability.</a:t>
            </a:r>
          </a:p>
          <a:p>
            <a:r>
              <a:rPr lang="en-IN" sz="2400" dirty="0"/>
              <a:t>• Helps reduce code duplication when application elements change.</a:t>
            </a:r>
          </a:p>
          <a:p>
            <a:r>
              <a:rPr lang="en-IN" sz="2400" dirty="0"/>
              <a:t>Example Page Classes:</a:t>
            </a:r>
          </a:p>
          <a:p>
            <a:r>
              <a:rPr lang="en-IN" sz="2400" dirty="0" err="1"/>
              <a:t>LoginPage</a:t>
            </a:r>
            <a:r>
              <a:rPr lang="en-IN" sz="2400" dirty="0"/>
              <a:t> → </a:t>
            </a:r>
            <a:r>
              <a:rPr lang="en-IN" sz="2400" dirty="0" err="1"/>
              <a:t>ProductsPage</a:t>
            </a:r>
            <a:r>
              <a:rPr lang="en-IN" sz="2400" dirty="0"/>
              <a:t> → </a:t>
            </a:r>
            <a:r>
              <a:rPr lang="en-IN" sz="2400" dirty="0" err="1"/>
              <a:t>CartPage</a:t>
            </a:r>
            <a:r>
              <a:rPr lang="en-IN" sz="2400" dirty="0"/>
              <a:t> → </a:t>
            </a:r>
            <a:r>
              <a:rPr lang="en-IN" sz="2400" dirty="0" err="1"/>
              <a:t>CheckoutPage</a:t>
            </a:r>
            <a:r>
              <a:rPr lang="en-IN" sz="2400" dirty="0"/>
              <a:t> → </a:t>
            </a:r>
            <a:r>
              <a:rPr lang="en-IN" sz="2400" dirty="0" err="1"/>
              <a:t>PaymentPage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166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AC42-CF2C-4AB5-96C7-C808AF8D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AUTOMATION TEST FLOW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4517C3-12C5-48E2-9385-9C78517DBE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8588" y="1615301"/>
            <a:ext cx="529166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the Automation Exercise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Initialize WebDriver and browser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 TestNG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actions using Page Object Model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expected behavior using assertions.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screenshots when a test case fails.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TestNG and Extent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TestNG Test → Page Object → Selenium WebDriver → Application → Assertion → Report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E4610B-7CC4-4CA0-98F5-E2A72F2F38BA}"/>
              </a:ext>
            </a:extLst>
          </p:cNvPr>
          <p:cNvSpPr/>
          <p:nvPr/>
        </p:nvSpPr>
        <p:spPr>
          <a:xfrm>
            <a:off x="5371507" y="1691184"/>
            <a:ext cx="6902158" cy="306343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TestNG Test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Page Object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Selenium WebDriver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Application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Assertions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Test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899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CC99-004E-4EF2-A57B-C42849D61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AUTOMATION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TEST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EXECUTION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653650-1780-42FC-811C-162AD707F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5067" y="1285598"/>
            <a:ext cx="890693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Executed automation test cases using TestNG.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Automated key e-commerce modules including Login, Products, Cart, Checkout and Payment.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Selenium WebDriver performed browser-based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TestNG assertions were used to validate expected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Failed test cases were analyzed using execution logs and screenshots.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Test execution results were recorded for reporting and further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4EBA6-F1E3-4CE1-9B43-E80D7AE469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83495" y="3429000"/>
            <a:ext cx="8906932" cy="322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30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C351-A6D3-44DA-8CB9-19749926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AUTOMATION REPORTS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8936B-ED9E-414E-B7FA-7C2B66DCA3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707635"/>
            <a:ext cx="868804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Test execution results were generated using TestNG.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Extent Reports were used to present detailed test execution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Reports show passed and failed test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Failure screenshots were captured for debugging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Execution logs were maintained using Log4j.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Reports helped in analyzing test failures and overall automation execution.</a:t>
            </a:r>
          </a:p>
        </p:txBody>
      </p:sp>
    </p:spTree>
    <p:extLst>
      <p:ext uri="{BB962C8B-B14F-4D97-AF65-F5344CB8AC3E}">
        <p14:creationId xmlns:p14="http://schemas.microsoft.com/office/powerpoint/2010/main" val="316903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5BF7570-0722-49D0-911E-058A38E8C6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731392"/>
            <a:ext cx="565667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API TESTING OVERVIEW</a:t>
            </a:r>
            <a:br>
              <a:rPr lang="en-US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1EDDAE-BBA5-454A-B6C3-E28DC645AB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9476" y="1582340"/>
            <a:ext cx="573151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Performed API testing to validate backend API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Used Postman for API request creation and response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Used Rest Assured with Java for automated API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Validated HTTP status codes, response headers and response body.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Covered GET, POST, PUT and DELETE request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Used assertions to verify expected API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API testing helped validate data and service-level functionality independently of the UI.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CAA5D-1814-47CD-8D9B-276A2FA21C8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011" y="1183906"/>
            <a:ext cx="5731510" cy="4485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712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E323-4BC8-46C6-B12C-AEDEDDE8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API TEST CASES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1075CA3-2F1B-4432-9B27-AA75A16AF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995488"/>
              </p:ext>
            </p:extLst>
          </p:nvPr>
        </p:nvGraphicFramePr>
        <p:xfrm>
          <a:off x="725556" y="1470991"/>
          <a:ext cx="5760970" cy="4196383"/>
        </p:xfrm>
        <a:graphic>
          <a:graphicData uri="http://schemas.openxmlformats.org/drawingml/2006/table">
            <a:tbl>
              <a:tblPr/>
              <a:tblGrid>
                <a:gridCol w="704882">
                  <a:extLst>
                    <a:ext uri="{9D8B030D-6E8A-4147-A177-3AD203B41FA5}">
                      <a16:colId xmlns:a16="http://schemas.microsoft.com/office/drawing/2014/main" val="2714191783"/>
                    </a:ext>
                  </a:extLst>
                </a:gridCol>
                <a:gridCol w="1264022">
                  <a:extLst>
                    <a:ext uri="{9D8B030D-6E8A-4147-A177-3AD203B41FA5}">
                      <a16:colId xmlns:a16="http://schemas.microsoft.com/office/drawing/2014/main" val="3111700512"/>
                    </a:ext>
                  </a:extLst>
                </a:gridCol>
                <a:gridCol w="1264022">
                  <a:extLst>
                    <a:ext uri="{9D8B030D-6E8A-4147-A177-3AD203B41FA5}">
                      <a16:colId xmlns:a16="http://schemas.microsoft.com/office/drawing/2014/main" val="2183364558"/>
                    </a:ext>
                  </a:extLst>
                </a:gridCol>
                <a:gridCol w="1264022">
                  <a:extLst>
                    <a:ext uri="{9D8B030D-6E8A-4147-A177-3AD203B41FA5}">
                      <a16:colId xmlns:a16="http://schemas.microsoft.com/office/drawing/2014/main" val="2232815505"/>
                    </a:ext>
                  </a:extLst>
                </a:gridCol>
                <a:gridCol w="1264022">
                  <a:extLst>
                    <a:ext uri="{9D8B030D-6E8A-4147-A177-3AD203B41FA5}">
                      <a16:colId xmlns:a16="http://schemas.microsoft.com/office/drawing/2014/main" val="613594528"/>
                    </a:ext>
                  </a:extLst>
                </a:gridCol>
              </a:tblGrid>
              <a:tr h="284321">
                <a:tc>
                  <a:txBody>
                    <a:bodyPr/>
                    <a:lstStyle/>
                    <a:p>
                      <a:r>
                        <a:rPr lang="en-IN" sz="1300"/>
                        <a:t>TC ID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API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Test Scenario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Validations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Result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33192"/>
                  </a:ext>
                </a:extLst>
              </a:tr>
              <a:tr h="1138099">
                <a:tc>
                  <a:txBody>
                    <a:bodyPr/>
                    <a:lstStyle/>
                    <a:p>
                      <a:r>
                        <a:rPr lang="en-IN" sz="1300" dirty="0"/>
                        <a:t>API-001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GET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Retrieve user information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Status Code, Content-Type, Response Body, User Data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Passed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28089"/>
                  </a:ext>
                </a:extLst>
              </a:tr>
              <a:tr h="1138099">
                <a:tc>
                  <a:txBody>
                    <a:bodyPr/>
                    <a:lstStyle/>
                    <a:p>
                      <a:r>
                        <a:rPr lang="en-IN" sz="1300"/>
                        <a:t>API-002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POST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Register a new user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Status Code, Content-Type, User ID, Registration Token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Passed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740967"/>
                  </a:ext>
                </a:extLst>
              </a:tr>
              <a:tr h="1138099">
                <a:tc>
                  <a:txBody>
                    <a:bodyPr/>
                    <a:lstStyle/>
                    <a:p>
                      <a:r>
                        <a:rPr lang="en-IN" sz="1300"/>
                        <a:t>API-003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PUT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Update existing user information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Status Code, Content-Type, Updated Name, Updated Job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Passed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967892"/>
                  </a:ext>
                </a:extLst>
              </a:tr>
              <a:tr h="497765">
                <a:tc>
                  <a:txBody>
                    <a:bodyPr/>
                    <a:lstStyle/>
                    <a:p>
                      <a:r>
                        <a:rPr lang="en-IN" sz="1300"/>
                        <a:t>API-004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DELETE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Delete an existing user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HTTP Status Code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Tested</a:t>
                      </a:r>
                    </a:p>
                  </a:txBody>
                  <a:tcPr marL="65787" marR="65787" marT="32894" marB="328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852965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A0B1E00-AF63-4E1B-A269-0970069D6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729" y="2434676"/>
            <a:ext cx="41024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VALIDATION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Response Status Code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Response Headers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Response Body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Expected API Response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60983-99DF-4895-84A5-754B45DB9CD7}"/>
              </a:ext>
            </a:extLst>
          </p:cNvPr>
          <p:cNvSpPr/>
          <p:nvPr/>
        </p:nvSpPr>
        <p:spPr>
          <a:xfrm>
            <a:off x="705910" y="59252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Tools:</a:t>
            </a:r>
            <a:r>
              <a:rPr lang="en-IN" dirty="0"/>
              <a:t> Postman | Rest Assured | Java | TestNG | Eclipse IDE</a:t>
            </a:r>
          </a:p>
        </p:txBody>
      </p:sp>
    </p:spTree>
    <p:extLst>
      <p:ext uri="{BB962C8B-B14F-4D97-AF65-F5344CB8AC3E}">
        <p14:creationId xmlns:p14="http://schemas.microsoft.com/office/powerpoint/2010/main" val="2887555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B899-F03C-4E67-8B44-04B2CA73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API EXECUTION RESULTS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8A269C-0C9E-456B-B424-FCCCB533B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270000"/>
            <a:ext cx="481859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API requests were executed using Postman and Rest Assured.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GET API execution was completed successfully and returned 200 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POST API execution was completed successfully and returned 200 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PUT API execution was completed successfully and returned 200 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DELETE API was tested and the expected response status was 204 No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Response status codes, headers and response body were validated.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API response data was verified against the expected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 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→ Passed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→ Passed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 → Passed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→ Tested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030DC0-21C0-4E09-B5DB-2BBA4364D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25" y="1359902"/>
            <a:ext cx="6362700" cy="559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62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B975-28CE-42FD-BD30-A32632563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AI TESTING TOOL – TESTIM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490947-971E-479A-B628-6BD1682E26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784" y="1930400"/>
            <a:ext cx="562821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TESTING TOOL – TESTIM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for AI-assisted test automation.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Created an automated login test flow for the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Recorded user actions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Testim's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recording feature.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Validated the login flow and dashboard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the effort required for creating automated test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Test execution and validation were performed using the recorded test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AI-assisted Test Automation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574E3-0F80-4354-A665-89495DDB629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50" y="1762126"/>
            <a:ext cx="5731510" cy="4486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6357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C0E35-0E4A-4AC8-979F-A3E43D72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AI TEST EXECUTION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7C4259-6DC8-4AF7-9847-6CB530524C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534" y="1615367"/>
            <a:ext cx="477096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Created a login automation test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Recorded the user actions during the login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Validated the login flow using the recorded test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Verified successful navigation to the dashboard after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steps to verify application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Captured screenshots as evidence of the AI-based test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FLOW: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Application → Enter Login Details → Login → Validate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44322-8990-417E-A7DD-46DF708315B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1615367"/>
            <a:ext cx="6429376" cy="4079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970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1392-B312-4C32-A862-321AEF23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875083-035E-473A-933C-AEAE62B1A8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066373"/>
            <a:ext cx="94667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is used for source code management and version control.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testing project is maintained in GitHub.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includes Manual Testing, Selenium Automation, API Testing and AI Testing.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Changes are committed and pushed to the GitHub repository.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ED010-C050-4C33-AF05-5578A5CB7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657476"/>
            <a:ext cx="7981950" cy="420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25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109E1-14DD-418F-A3F1-2CD0B134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34" y="88900"/>
            <a:ext cx="8596668" cy="1320800"/>
          </a:xfrm>
        </p:spPr>
        <p:txBody>
          <a:bodyPr/>
          <a:lstStyle/>
          <a:p>
            <a:r>
              <a:rPr lang="en-IN" dirty="0"/>
              <a:t>Git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A921-E351-40E7-B4B0-4443E263A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795339"/>
            <a:ext cx="2243666" cy="3497261"/>
          </a:xfrm>
        </p:spPr>
        <p:txBody>
          <a:bodyPr>
            <a:normAutofit/>
          </a:bodyPr>
          <a:lstStyle/>
          <a:p>
            <a:r>
              <a:rPr lang="en-IN" sz="1000" b="1" dirty="0"/>
              <a:t>Local Project</a:t>
            </a:r>
          </a:p>
          <a:p>
            <a:r>
              <a:rPr lang="en-IN" sz="1000" b="1" dirty="0"/>
              <a:t>      ↓</a:t>
            </a:r>
          </a:p>
          <a:p>
            <a:r>
              <a:rPr lang="en-IN" sz="1000" b="1" dirty="0"/>
              <a:t>   Git Add</a:t>
            </a:r>
          </a:p>
          <a:p>
            <a:r>
              <a:rPr lang="en-IN" sz="1000" b="1" dirty="0"/>
              <a:t>      ↓</a:t>
            </a:r>
          </a:p>
          <a:p>
            <a:r>
              <a:rPr lang="en-IN" sz="1000" b="1" dirty="0"/>
              <a:t>   Commit</a:t>
            </a:r>
          </a:p>
          <a:p>
            <a:r>
              <a:rPr lang="en-IN" sz="1000" b="1" dirty="0"/>
              <a:t>      ↓</a:t>
            </a:r>
          </a:p>
          <a:p>
            <a:r>
              <a:rPr lang="en-IN" sz="1000" b="1" dirty="0"/>
              <a:t>    Push</a:t>
            </a:r>
          </a:p>
          <a:p>
            <a:r>
              <a:rPr lang="en-IN" sz="1000" b="1" dirty="0"/>
              <a:t>      ↓</a:t>
            </a:r>
          </a:p>
          <a:p>
            <a:r>
              <a:rPr lang="en-IN" sz="1000" b="1" dirty="0"/>
              <a:t>   GitHub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030A0"/>
                </a:solidFill>
              </a:rPr>
              <a:t>git add 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030A0"/>
                </a:solidFill>
              </a:rPr>
              <a:t>git commit -m "Update project"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030A0"/>
                </a:solidFill>
              </a:rPr>
              <a:t>git push origin main</a:t>
            </a:r>
            <a:endParaRPr lang="en-IN" sz="1000" b="1" dirty="0">
              <a:solidFill>
                <a:srgbClr val="7030A0"/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DF126-9C1D-4B8E-BB4D-0B7BD8DE2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50" y="933450"/>
            <a:ext cx="9233515" cy="57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72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EE79-0A13-4C8A-90E2-3C998797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A4A4D-E38B-4376-A325-E85EEE21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2856441" cy="3880773"/>
          </a:xfrm>
        </p:spPr>
        <p:txBody>
          <a:bodyPr/>
          <a:lstStyle/>
          <a:p>
            <a:r>
              <a:rPr lang="en-US" dirty="0"/>
              <a:t>GitHub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Jenkins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Maven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Automated Test Execution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Test Results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7E023-3341-4557-8812-B07A5CA2A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5" y="225260"/>
            <a:ext cx="8242610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07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EE7D-F24C-4CFD-A76D-A276992F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" y="406240"/>
            <a:ext cx="8596668" cy="1320800"/>
          </a:xfrm>
        </p:spPr>
        <p:txBody>
          <a:bodyPr/>
          <a:lstStyle/>
          <a:p>
            <a:r>
              <a:rPr lang="en-IN" dirty="0"/>
              <a:t>Jenkins – CI/CD Execution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A42BFD-84D0-4FAA-9398-13E6517515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0134" y="945117"/>
            <a:ext cx="49900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Jenkins retrieves the project from GitHub.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Maven builds and executes the automation tests.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 and TestNG tests are executed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execution results are available in Jenkins.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mvn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-f EcommerceAutomation2/pom.xml clean test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98E37-B98C-4973-9E1F-C052B10E1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39" y="1038225"/>
            <a:ext cx="6936627" cy="541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89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0179-E99E-4472-9770-A62C17A0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CI/CD Execution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FA865-BA90-4100-A8D2-8EFDC1C2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4570941" cy="1920875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GitHub successfully integrated with Jenkins. </a:t>
            </a:r>
          </a:p>
          <a:p>
            <a:r>
              <a:rPr lang="en-IN" dirty="0"/>
              <a:t>Maven automation build executed through Jenkins. </a:t>
            </a:r>
          </a:p>
          <a:p>
            <a:r>
              <a:rPr lang="en-IN" dirty="0"/>
              <a:t>Selenium automation tests executed successfully. </a:t>
            </a:r>
          </a:p>
          <a:p>
            <a:r>
              <a:rPr lang="en-IN" dirty="0"/>
              <a:t>API automation has a separate Jenkins job: </a:t>
            </a:r>
            <a:r>
              <a:rPr lang="en-IN" b="1" dirty="0"/>
              <a:t>Ecommerce-API</a:t>
            </a:r>
            <a:r>
              <a:rPr lang="en-IN" dirty="0"/>
              <a:t>. </a:t>
            </a:r>
          </a:p>
          <a:p>
            <a:r>
              <a:rPr lang="en-IN" dirty="0"/>
              <a:t>Test execution results were verified in Jenkins. </a:t>
            </a:r>
          </a:p>
          <a:p>
            <a:r>
              <a:rPr lang="en-IN" dirty="0"/>
              <a:t>📸 </a:t>
            </a:r>
            <a:r>
              <a:rPr lang="en-IN" b="1" dirty="0"/>
              <a:t>Screenshots: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F10EF-4CD6-4C22-A09C-45130B746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1181100"/>
            <a:ext cx="7038975" cy="519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30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2388-CC3C-46A4-B2F1-0C360FBC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9ECF1-D078-42E2-BD26-7678298EF7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2583" y="1905505"/>
            <a:ext cx="996209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tested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 Exercise E-Commerce application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multiple testing approaches.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major e-commerce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Automation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Selenium, Java, TestNG, Maven, and POM.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Postman and Rest Assured.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support test automation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the automation project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and Jenkins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demonstrate CI/CD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and reviewed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results and reports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application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provided practical experience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Testing, Automation Testing, API Testing, AI Testing, and CI/CD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helped me understand the complete software testing process and gain hands-on experience with industry-relevant testing tools and techniques.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350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10745D9-6D11-48AB-9076-51CDD9300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3534" y="1038991"/>
            <a:ext cx="928581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THANK YOU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 &amp;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E-Commerce Application Testing Project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Testing | Selenium Automation | API Testing | AI Testing| GitHub| CI/CD Pipelines</a:t>
            </a:r>
          </a:p>
        </p:txBody>
      </p:sp>
    </p:spTree>
    <p:extLst>
      <p:ext uri="{BB962C8B-B14F-4D97-AF65-F5344CB8AC3E}">
        <p14:creationId xmlns:p14="http://schemas.microsoft.com/office/powerpoint/2010/main" val="17158004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</TotalTime>
  <Words>1941</Words>
  <Application>Microsoft Office PowerPoint</Application>
  <PresentationFormat>Widescreen</PresentationFormat>
  <Paragraphs>286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Trebuchet MS</vt:lpstr>
      <vt:lpstr>Wingdings 3</vt:lpstr>
      <vt:lpstr>Facet</vt:lpstr>
      <vt:lpstr>E-COMMERCE TESTING PROJECT</vt:lpstr>
      <vt:lpstr>AGENDA</vt:lpstr>
      <vt:lpstr>APPLICATION OVERVIEW</vt:lpstr>
      <vt:lpstr>APPLICATION HOMEPAGE</vt:lpstr>
      <vt:lpstr>PROJECT OBJECTIVES</vt:lpstr>
      <vt:lpstr>TESTING SCOPE</vt:lpstr>
      <vt:lpstr>TEST ENVIRONMENT</vt:lpstr>
      <vt:lpstr>SOFTWARE TESTING LIFE CYCLE (STLC)</vt:lpstr>
      <vt:lpstr>MANUAL TESTING APPROACH</vt:lpstr>
      <vt:lpstr>MANUAL TEST CASES</vt:lpstr>
      <vt:lpstr>MANUAL TEST EXECUTION</vt:lpstr>
      <vt:lpstr>DEFECT / BUG REPORTING</vt:lpstr>
      <vt:lpstr>AUTOMATION TESTING OVERVIEW</vt:lpstr>
      <vt:lpstr>AUTOMATION FRAMEWORK</vt:lpstr>
      <vt:lpstr>PAGE OBJECT MODEL (POM)</vt:lpstr>
      <vt:lpstr>AUTOMATION TEST FLOW </vt:lpstr>
      <vt:lpstr>AUTOMATION TEST EXECUTION </vt:lpstr>
      <vt:lpstr>AUTOMATION REPORTS </vt:lpstr>
      <vt:lpstr>API TESTING OVERVIEW </vt:lpstr>
      <vt:lpstr>API TEST CASES </vt:lpstr>
      <vt:lpstr>API EXECUTION RESULTS </vt:lpstr>
      <vt:lpstr>AI TESTING TOOL – TESTIM </vt:lpstr>
      <vt:lpstr>AI TEST EXECUTION </vt:lpstr>
      <vt:lpstr>GitHub Integration</vt:lpstr>
      <vt:lpstr>Git Version Control</vt:lpstr>
      <vt:lpstr>CI/CD Pipeline</vt:lpstr>
      <vt:lpstr>Jenkins – CI/CD Execution</vt:lpstr>
      <vt:lpstr>CI/CD Execution Result</vt:lpstr>
      <vt:lpstr>Conclusion</vt:lpstr>
      <vt:lpstr>THANK YOU  Questions &amp; Answers E-Commerce Application Testing Project Manual Testing | Selenium Automation | API Testing | AI Testing| GitHub| CI/CD Pipelines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TESTING PROJECT</dc:title>
  <dc:creator>HP</dc:creator>
  <cp:lastModifiedBy>HP</cp:lastModifiedBy>
  <cp:revision>16</cp:revision>
  <dcterms:created xsi:type="dcterms:W3CDTF">2026-09-25T18:13:35Z</dcterms:created>
  <dcterms:modified xsi:type="dcterms:W3CDTF">2026-10-06T12:02:17Z</dcterms:modified>
</cp:coreProperties>
</file>